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Proxima Nova"/>
      <p:regular r:id="rId21"/>
      <p:bold r:id="rId22"/>
      <p:italic r:id="rId23"/>
      <p:boldItalic r:id="rId24"/>
    </p:embeddedFont>
    <p:embeddedFont>
      <p:font typeface="Nunito"/>
      <p:regular r:id="rId25"/>
      <p:bold r:id="rId26"/>
      <p:italic r:id="rId27"/>
      <p:boldItalic r:id="rId28"/>
    </p:embeddedFont>
    <p:embeddedFont>
      <p:font typeface="Alfa Slab One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0B479B-48D7-4C51-B493-6A702A040F38}">
  <a:tblStyle styleId="{020B479B-48D7-4C51-B493-6A702A040F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roximaNova-bold.fntdata"/><Relationship Id="rId21" Type="http://schemas.openxmlformats.org/officeDocument/2006/relationships/font" Target="fonts/ProximaNova-regular.fntdata"/><Relationship Id="rId24" Type="http://schemas.openxmlformats.org/officeDocument/2006/relationships/font" Target="fonts/ProximaNova-boldItalic.fntdata"/><Relationship Id="rId23" Type="http://schemas.openxmlformats.org/officeDocument/2006/relationships/font" Target="fonts/ProximaNov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lfaSlabOne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f91b051d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bf91b051d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f91b051db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bf91b051db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ee7c6291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7ee7c6291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ee7c6291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7ee7c6291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f91b051db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bf91b051db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fbf997e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bfbf997e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fbf997e3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bfbf997e3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7ee7c6291f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7ee7c6291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fbf997e3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bfbf997e3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7ee7c6291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7ee7c6291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4;p3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arxiv.org/pdf/1611.08024" TargetMode="External"/><Relationship Id="rId4" Type="http://schemas.openxmlformats.org/officeDocument/2006/relationships/hyperlink" Target="https://arxiv.org/abs/2505.04331" TargetMode="External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1014175" y="3804675"/>
            <a:ext cx="1361400" cy="77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1581475" y="1787625"/>
            <a:ext cx="6221400" cy="1462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57775" y="1674175"/>
            <a:ext cx="86040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lang="ru" sz="3800">
                <a:latin typeface="Nunito"/>
                <a:ea typeface="Nunito"/>
                <a:cs typeface="Nunito"/>
                <a:sym typeface="Nunito"/>
              </a:rPr>
              <a:t>Обработка и классификация импульсов головного мозга</a:t>
            </a:r>
            <a:endParaRPr b="1" i="0" sz="3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Математическое моделирование</a:t>
            </a:r>
            <a:endParaRPr b="0" i="0" sz="1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57775" y="3550300"/>
            <a:ext cx="86670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500">
                <a:latin typeface="Nunito"/>
                <a:ea typeface="Nunito"/>
                <a:cs typeface="Nunito"/>
                <a:sym typeface="Nunito"/>
              </a:rPr>
              <a:t>Тектуманидзе Александр Георгиевич</a:t>
            </a:r>
            <a:endParaRPr b="0" i="0" sz="15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Руководитель</a:t>
            </a:r>
            <a:r>
              <a:rPr lang="ru" sz="1500">
                <a:latin typeface="Nunito"/>
                <a:ea typeface="Nunito"/>
                <a:cs typeface="Nunito"/>
                <a:sym typeface="Nunito"/>
              </a:rPr>
              <a:t>: Бабушкин Максим Владимирович Доцент, кандидат физико-математических наук (факультет информационных технологий и программирования)</a:t>
            </a:r>
            <a:endParaRPr b="0" i="0" sz="15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56600" y="4664550"/>
            <a:ext cx="84483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Proxima Nova"/>
                <a:ea typeface="Proxima Nova"/>
                <a:cs typeface="Proxima Nova"/>
                <a:sym typeface="Proxima Nova"/>
              </a:rPr>
              <a:t>28.01.2026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 b="29859" l="0" r="0" t="0"/>
          <a:stretch/>
        </p:blipFill>
        <p:spPr>
          <a:xfrm>
            <a:off x="7438925" y="109375"/>
            <a:ext cx="1529600" cy="4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Мотивация</a:t>
            </a:r>
            <a:endParaRPr b="1" i="0" sz="2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 b="31683" l="0" r="0" t="0"/>
          <a:stretch/>
        </p:blipFill>
        <p:spPr>
          <a:xfrm>
            <a:off x="7438925" y="109375"/>
            <a:ext cx="1529600" cy="455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" name="Google Shape;70;p14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4"/>
          <p:cNvCxnSpPr/>
          <p:nvPr/>
        </p:nvCxnSpPr>
        <p:spPr>
          <a:xfrm flipH="1" rot="10800000">
            <a:off x="7269375" y="3663050"/>
            <a:ext cx="1870500" cy="148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4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4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107475" y="1034425"/>
            <a:ext cx="84276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i="1" lang="ru" sz="1700">
                <a:latin typeface="Nunito"/>
                <a:ea typeface="Nunito"/>
                <a:cs typeface="Nunito"/>
                <a:sym typeface="Nunito"/>
              </a:rPr>
              <a:t>BCI в жизни</a:t>
            </a:r>
            <a:endParaRPr i="1" sz="1700"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i="1" lang="ru" sz="1700">
                <a:latin typeface="Nunito"/>
                <a:ea typeface="Nunito"/>
                <a:cs typeface="Nunito"/>
                <a:sym typeface="Nunito"/>
              </a:rPr>
              <a:t>Исследование мозга с помощью ИИ</a:t>
            </a:r>
            <a:endParaRPr i="1" sz="1700"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i="1" lang="ru" sz="1700">
                <a:latin typeface="Nunito"/>
                <a:ea typeface="Nunito"/>
                <a:cs typeface="Nunito"/>
                <a:sym typeface="Nunito"/>
              </a:rPr>
              <a:t>Целевая Аудитория: </a:t>
            </a:r>
            <a:endParaRPr i="1" sz="1700">
              <a:latin typeface="Nunito"/>
              <a:ea typeface="Nunito"/>
              <a:cs typeface="Nunito"/>
              <a:sym typeface="Nunito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i="1" lang="ru" sz="1700">
                <a:latin typeface="Nunito"/>
                <a:ea typeface="Nunito"/>
                <a:cs typeface="Nunito"/>
                <a:sym typeface="Nunito"/>
              </a:rPr>
              <a:t>Пациенты нуждающиеся в реабилитации функций мозга</a:t>
            </a:r>
            <a:endParaRPr i="1" sz="1700">
              <a:latin typeface="Nunito"/>
              <a:ea typeface="Nunito"/>
              <a:cs typeface="Nunito"/>
              <a:sym typeface="Nunito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i="1" lang="ru" sz="1700">
                <a:latin typeface="Nunito"/>
                <a:ea typeface="Nunito"/>
                <a:cs typeface="Nunito"/>
                <a:sym typeface="Nunito"/>
              </a:rPr>
              <a:t>Игровая индустрия</a:t>
            </a:r>
            <a:endParaRPr i="1" sz="1700">
              <a:latin typeface="Nunito"/>
              <a:ea typeface="Nunito"/>
              <a:cs typeface="Nunito"/>
              <a:sym typeface="Nunito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i="1" lang="ru" sz="1700">
                <a:latin typeface="Nunito"/>
                <a:ea typeface="Nunito"/>
                <a:cs typeface="Nunito"/>
                <a:sym typeface="Nunito"/>
              </a:rPr>
              <a:t>Люди желающие упростить рутинные функции повседневности</a:t>
            </a:r>
            <a:endParaRPr i="1"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ru" sz="18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</a:br>
            <a:endParaRPr b="0" i="0" sz="1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6" name="Google Shape;7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2637" y="2971601"/>
            <a:ext cx="2077275" cy="208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Цели</a:t>
            </a:r>
            <a:endParaRPr b="1" i="0" sz="2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83" name="Google Shape;83;p15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15"/>
          <p:cNvCxnSpPr/>
          <p:nvPr/>
        </p:nvCxnSpPr>
        <p:spPr>
          <a:xfrm flipH="1" rot="10800000">
            <a:off x="7269375" y="3663050"/>
            <a:ext cx="1870500" cy="148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" name="Google Shape;85;p15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15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203550" y="989025"/>
            <a:ext cx="8382000" cy="16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Создать модель </a:t>
            </a: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классификатора импульсов головного мозга с показателями:</a:t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F1: 0.85</a:t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latency: 100 ms</a:t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Классы: [LA,RA, LL,RL]</a:t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i="1" lang="ru" sz="1300">
                <a:latin typeface="Nunito"/>
                <a:ea typeface="Nunito"/>
                <a:cs typeface="Nunito"/>
                <a:sym typeface="Nunito"/>
              </a:rPr>
            </a:b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203550" y="2534405"/>
            <a:ext cx="8382000" cy="25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ru" sz="17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Задачи</a:t>
            </a:r>
            <a:endParaRPr b="1" i="0" sz="17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AutoNum type="arabicPeriod"/>
            </a:pP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Собрать и пометить датасет импульсов головного мозга (по 100 измерений на каждый класс)</a:t>
            </a:r>
            <a:endParaRPr b="0" i="1" sz="13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AutoNum type="arabicPeriod"/>
            </a:pP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Создать фильтр для фильтрации данных в реальном времени</a:t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AutoNum type="arabicPeriod"/>
            </a:pP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Обучить модель на отфильтрованных данных для многомерной классификации</a:t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AutoNum type="arabicPeriod"/>
            </a:pP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Собрать ПО </a:t>
            </a: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состоящее</a:t>
            </a: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 из:</a:t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</a:pP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Входного интерфейса многомерного потока данных с каналов измерительного устройства</a:t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</a:pP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Фильтр реального времени</a:t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</a:pP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Многомерный классификатор</a:t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</a:pPr>
            <a:r>
              <a:rPr i="1" lang="ru" sz="1300">
                <a:latin typeface="Nunito"/>
                <a:ea typeface="Nunito"/>
                <a:cs typeface="Nunito"/>
                <a:sym typeface="Nunito"/>
              </a:rPr>
              <a:t>Интерфейс для присваивания функций для каждого класса</a:t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0" name="Google Shape;90;p15"/>
          <p:cNvPicPr preferRelativeResize="0"/>
          <p:nvPr/>
        </p:nvPicPr>
        <p:blipFill rotWithShape="1">
          <a:blip r:embed="rId3">
            <a:alphaModFix/>
          </a:blip>
          <a:srcRect b="31684" l="0" r="0" t="0"/>
          <a:stretch/>
        </p:blipFill>
        <p:spPr>
          <a:xfrm>
            <a:off x="7438925" y="109375"/>
            <a:ext cx="1529600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latin typeface="Nunito"/>
                <a:ea typeface="Nunito"/>
                <a:cs typeface="Nunito"/>
                <a:sym typeface="Nunito"/>
              </a:rPr>
              <a:t>State of art</a:t>
            </a:r>
            <a:endParaRPr b="1" i="0" sz="2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97" name="Google Shape;97;p16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16"/>
          <p:cNvCxnSpPr/>
          <p:nvPr/>
        </p:nvCxnSpPr>
        <p:spPr>
          <a:xfrm flipH="1" rot="10800000">
            <a:off x="7269375" y="3663050"/>
            <a:ext cx="1870500" cy="148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16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16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145850" y="866175"/>
            <a:ext cx="8357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Next Mind -  занимается исследованиями не инвазивного метода BCI зрительной коры головного мозга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Neurolink - занимается исследованиями инвазивного метода BCI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OpenBCI -  разрабатывает микросхемы для работы с BCI	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3" name="Google Shape;10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5375" y="1509725"/>
            <a:ext cx="2124050" cy="21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250" y="1911850"/>
            <a:ext cx="3443874" cy="172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1126" y="3535298"/>
            <a:ext cx="2478049" cy="129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/>
          <p:cNvPicPr preferRelativeResize="0"/>
          <p:nvPr/>
        </p:nvPicPr>
        <p:blipFill rotWithShape="1">
          <a:blip r:embed="rId6">
            <a:alphaModFix/>
          </a:blip>
          <a:srcRect b="31684" l="0" r="0" t="0"/>
          <a:stretch/>
        </p:blipFill>
        <p:spPr>
          <a:xfrm>
            <a:off x="7438925" y="109375"/>
            <a:ext cx="1529600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latin typeface="Nunito"/>
                <a:ea typeface="Nunito"/>
                <a:cs typeface="Nunito"/>
                <a:sym typeface="Nunito"/>
              </a:rPr>
              <a:t>DataSet</a:t>
            </a:r>
            <a:endParaRPr b="1" i="0" sz="2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13" name="Google Shape;113;p17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17"/>
          <p:cNvCxnSpPr/>
          <p:nvPr/>
        </p:nvCxnSpPr>
        <p:spPr>
          <a:xfrm flipH="1" rot="10800000">
            <a:off x="7269375" y="3663050"/>
            <a:ext cx="1870500" cy="148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17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17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2088" y="1558875"/>
            <a:ext cx="3279826" cy="3279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/>
        </p:nvSpPr>
        <p:spPr>
          <a:xfrm>
            <a:off x="145850" y="866175"/>
            <a:ext cx="8357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Собственный размеченный датасет: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4 Класса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100 измерений по каждому классу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400 </a:t>
            </a: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измерений без класса (class 0)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20" name="Google Shape;120;p17"/>
          <p:cNvPicPr preferRelativeResize="0"/>
          <p:nvPr/>
        </p:nvPicPr>
        <p:blipFill rotWithShape="1">
          <a:blip r:embed="rId4">
            <a:alphaModFix/>
          </a:blip>
          <a:srcRect b="31684" l="0" r="0" t="0"/>
          <a:stretch/>
        </p:blipFill>
        <p:spPr>
          <a:xfrm>
            <a:off x="7438925" y="109375"/>
            <a:ext cx="1529600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latin typeface="Nunito"/>
                <a:ea typeface="Nunito"/>
                <a:cs typeface="Nunito"/>
                <a:sym typeface="Nunito"/>
              </a:rPr>
              <a:t>Фильтрация сигнала</a:t>
            </a:r>
            <a:endParaRPr b="1" i="0" sz="2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27" name="Google Shape;127;p18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18"/>
          <p:cNvCxnSpPr/>
          <p:nvPr/>
        </p:nvCxnSpPr>
        <p:spPr>
          <a:xfrm flipH="1" rot="10800000">
            <a:off x="7269375" y="3663050"/>
            <a:ext cx="1870500" cy="148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" name="Google Shape;129;p18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18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145850" y="866175"/>
            <a:ext cx="83577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Цель: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Убрать частоты 50Hz 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Выделить частоту </a:t>
            </a:r>
            <a:r>
              <a:rPr b="1" i="1" lang="ru" sz="1100">
                <a:latin typeface="Nunito"/>
                <a:ea typeface="Nunito"/>
                <a:cs typeface="Nunito"/>
                <a:sym typeface="Nunito"/>
              </a:rPr>
              <a:t>Бета</a:t>
            </a: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 волн мозга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Убрать шум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Основная метрика SNR (Signal-to-Noise Ratio):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3" name="Google Shape;13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2575" y="951375"/>
            <a:ext cx="4582599" cy="343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121" y="2122125"/>
            <a:ext cx="2391225" cy="56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/>
          <p:cNvPicPr preferRelativeResize="0"/>
          <p:nvPr/>
        </p:nvPicPr>
        <p:blipFill rotWithShape="1">
          <a:blip r:embed="rId5">
            <a:alphaModFix/>
          </a:blip>
          <a:srcRect b="31684" l="0" r="0" t="0"/>
          <a:stretch/>
        </p:blipFill>
        <p:spPr>
          <a:xfrm>
            <a:off x="7438925" y="109375"/>
            <a:ext cx="1529600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latin typeface="Nunito"/>
                <a:ea typeface="Nunito"/>
                <a:cs typeface="Nunito"/>
                <a:sym typeface="Nunito"/>
              </a:rPr>
              <a:t>Фильтрация сигнала</a:t>
            </a:r>
            <a:endParaRPr b="1" i="0" sz="2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42" name="Google Shape;142;p19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19"/>
          <p:cNvCxnSpPr/>
          <p:nvPr/>
        </p:nvCxnSpPr>
        <p:spPr>
          <a:xfrm flipH="1" rot="10800000">
            <a:off x="7269375" y="3663050"/>
            <a:ext cx="1870500" cy="148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19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19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145850" y="866175"/>
            <a:ext cx="83577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148" name="Google Shape;148;p19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{020B479B-48D7-4C51-B493-6A702A040F38}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Алгоритм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Время выполнения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Качество </a:t>
                      </a:r>
                      <a:r>
                        <a:rPr b="1" lang="ru"/>
                        <a:t>SNR (Signal-to-Noise Ratio)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Скользящее среднее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3</a:t>
                      </a:r>
                      <a:r>
                        <a:rPr lang="ru"/>
                        <a:t>5 мкс на канал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9</a:t>
                      </a:r>
                      <a:r>
                        <a:rPr lang="ru"/>
                        <a:t>.5 дБ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Фильтр Калман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385</a:t>
                      </a:r>
                      <a:r>
                        <a:rPr lang="ru"/>
                        <a:t> мкс на канал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31.5 дБ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Вейвлет-фильтрация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557</a:t>
                      </a:r>
                      <a:r>
                        <a:rPr lang="ru"/>
                        <a:t> мкс на канал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29.8 дБ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Фильтр Чебышева </a:t>
                      </a:r>
                      <a:r>
                        <a:rPr lang="ru" sz="900"/>
                        <a:t>(2 порядка)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78</a:t>
                      </a:r>
                      <a:r>
                        <a:rPr lang="ru"/>
                        <a:t> мкс на канал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28.1 дБ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Фильтр Баттерворта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75</a:t>
                      </a:r>
                      <a:r>
                        <a:rPr lang="ru"/>
                        <a:t> мкс на канал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26.2 дБ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БПФ</a:t>
                      </a:r>
                      <a:r>
                        <a:rPr lang="ru"/>
                        <a:t> фильтрация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5</a:t>
                      </a:r>
                      <a:r>
                        <a:rPr lang="ru"/>
                        <a:t> мс на обработку окна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32.1 дБ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Notch фильтр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123</a:t>
                      </a:r>
                      <a:r>
                        <a:rPr lang="ru"/>
                        <a:t> мкс на канал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49" name="Google Shape;149;p19"/>
          <p:cNvPicPr preferRelativeResize="0"/>
          <p:nvPr/>
        </p:nvPicPr>
        <p:blipFill rotWithShape="1">
          <a:blip r:embed="rId3">
            <a:alphaModFix/>
          </a:blip>
          <a:srcRect b="31684" l="0" r="0" t="0"/>
          <a:stretch/>
        </p:blipFill>
        <p:spPr>
          <a:xfrm>
            <a:off x="7438925" y="109375"/>
            <a:ext cx="1529600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latin typeface="Nunito"/>
                <a:ea typeface="Nunito"/>
                <a:cs typeface="Nunito"/>
                <a:sym typeface="Nunito"/>
              </a:rPr>
              <a:t>Движение кисти </a:t>
            </a:r>
            <a:endParaRPr b="1" sz="28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latin typeface="Nunito"/>
                <a:ea typeface="Nunito"/>
                <a:cs typeface="Nunito"/>
                <a:sym typeface="Nunito"/>
              </a:rPr>
              <a:t>(до и после </a:t>
            </a:r>
            <a:r>
              <a:rPr b="1" lang="ru" sz="1600">
                <a:latin typeface="Nunito"/>
                <a:ea typeface="Nunito"/>
                <a:cs typeface="Nunito"/>
                <a:sym typeface="Nunito"/>
              </a:rPr>
              <a:t>фильтрации</a:t>
            </a:r>
            <a:r>
              <a:rPr b="1" lang="ru" sz="1600">
                <a:latin typeface="Nunito"/>
                <a:ea typeface="Nunito"/>
                <a:cs typeface="Nunito"/>
                <a:sym typeface="Nunito"/>
              </a:rPr>
              <a:t>)</a:t>
            </a:r>
            <a:endParaRPr b="1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56" name="Google Shape;156;p20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20"/>
          <p:cNvCxnSpPr/>
          <p:nvPr/>
        </p:nvCxnSpPr>
        <p:spPr>
          <a:xfrm flipH="1" rot="10800000">
            <a:off x="7269375" y="3663050"/>
            <a:ext cx="1870500" cy="148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p20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20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145850" y="866175"/>
            <a:ext cx="835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descr="Chart&#10;&#10;Description automatically generated"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6301" y="1552032"/>
            <a:ext cx="3412525" cy="2521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rt, histogram&#10;&#10;Description automatically generated" id="163" name="Google Shape;16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250" y="1552031"/>
            <a:ext cx="3194850" cy="24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 rotWithShape="1">
          <a:blip r:embed="rId5">
            <a:alphaModFix/>
          </a:blip>
          <a:srcRect b="31684" l="0" r="0" t="0"/>
          <a:stretch/>
        </p:blipFill>
        <p:spPr>
          <a:xfrm>
            <a:off x="7438925" y="109375"/>
            <a:ext cx="1529600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latin typeface="Nunito"/>
                <a:ea typeface="Nunito"/>
                <a:cs typeface="Nunito"/>
                <a:sym typeface="Nunito"/>
              </a:rPr>
              <a:t>Классификаторы</a:t>
            </a:r>
            <a:endParaRPr b="1" i="0" sz="2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71" name="Google Shape;171;p21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21"/>
          <p:cNvCxnSpPr/>
          <p:nvPr/>
        </p:nvCxnSpPr>
        <p:spPr>
          <a:xfrm flipH="1" rot="10800000">
            <a:off x="7269375" y="3663050"/>
            <a:ext cx="1870500" cy="148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21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21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145850" y="866175"/>
            <a:ext cx="835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177" name="Google Shape;177;p21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{020B479B-48D7-4C51-B493-6A702A040F38}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Алгоритм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F1 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время выполнения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Решающие деревья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0.43</a:t>
                      </a:r>
                      <a:endParaRPr i="1"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122 ms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Resnet 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0.57</a:t>
                      </a:r>
                      <a:endParaRPr i="1" sz="11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172 ms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EEGNet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0.73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" sz="11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187 ms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78" name="Google Shape;178;p21"/>
          <p:cNvPicPr preferRelativeResize="0"/>
          <p:nvPr/>
        </p:nvPicPr>
        <p:blipFill rotWithShape="1">
          <a:blip r:embed="rId3">
            <a:alphaModFix/>
          </a:blip>
          <a:srcRect b="31684" l="0" r="0" t="0"/>
          <a:stretch/>
        </p:blipFill>
        <p:spPr>
          <a:xfrm>
            <a:off x="7438925" y="109375"/>
            <a:ext cx="1529600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 txBox="1"/>
          <p:nvPr/>
        </p:nvSpPr>
        <p:spPr>
          <a:xfrm>
            <a:off x="177250" y="3919525"/>
            <a:ext cx="3000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LSTM</a:t>
            </a:r>
            <a:endParaRPr sz="105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RNN</a:t>
            </a:r>
            <a:endParaRPr sz="105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visual </a:t>
            </a:r>
            <a:endParaRPr sz="105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latin typeface="Nunito"/>
                <a:ea typeface="Nunito"/>
                <a:cs typeface="Nunito"/>
                <a:sym typeface="Nunito"/>
              </a:rPr>
              <a:t>EEGNet</a:t>
            </a:r>
            <a:endParaRPr b="1" i="0" sz="2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86" name="Google Shape;186;p22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p22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" name="Google Shape;188;p22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145850" y="866175"/>
            <a:ext cx="835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1" name="Google Shape;191;p22"/>
          <p:cNvPicPr preferRelativeResize="0"/>
          <p:nvPr/>
        </p:nvPicPr>
        <p:blipFill rotWithShape="1">
          <a:blip r:embed="rId3">
            <a:alphaModFix/>
          </a:blip>
          <a:srcRect b="31684" l="0" r="0" t="0"/>
          <a:stretch/>
        </p:blipFill>
        <p:spPr>
          <a:xfrm>
            <a:off x="7438925" y="109375"/>
            <a:ext cx="1529600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 txBox="1"/>
          <p:nvPr/>
        </p:nvSpPr>
        <p:spPr>
          <a:xfrm>
            <a:off x="323475" y="909475"/>
            <a:ext cx="860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EEGNet: Компактная CNN модель специализированная на данных c ЭЭГ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4" name="Google Shape;19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475" y="1251275"/>
            <a:ext cx="6401447" cy="355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latin typeface="Nunito"/>
                <a:ea typeface="Nunito"/>
                <a:cs typeface="Nunito"/>
                <a:sym typeface="Nunito"/>
              </a:rPr>
              <a:t>EEGNet</a:t>
            </a:r>
            <a:endParaRPr b="1" i="0" sz="2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00" name="Google Shape;200;p23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23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23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145850" y="866175"/>
            <a:ext cx="835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5" name="Google Shape;205;p23"/>
          <p:cNvPicPr preferRelativeResize="0"/>
          <p:nvPr/>
        </p:nvPicPr>
        <p:blipFill rotWithShape="1">
          <a:blip r:embed="rId3">
            <a:alphaModFix/>
          </a:blip>
          <a:srcRect b="31684" l="0" r="0" t="0"/>
          <a:stretch/>
        </p:blipFill>
        <p:spPr>
          <a:xfrm>
            <a:off x="7438925" y="109375"/>
            <a:ext cx="1529600" cy="4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3"/>
          <p:cNvSpPr txBox="1"/>
          <p:nvPr/>
        </p:nvSpPr>
        <p:spPr>
          <a:xfrm>
            <a:off x="323475" y="909475"/>
            <a:ext cx="860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8" name="Google Shape;20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850" y="1039275"/>
            <a:ext cx="7549364" cy="2740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latin typeface="Nunito"/>
                <a:ea typeface="Nunito"/>
                <a:cs typeface="Nunito"/>
                <a:sym typeface="Nunito"/>
              </a:rPr>
              <a:t>Планы на текущий год</a:t>
            </a:r>
            <a:endParaRPr b="1" i="0" sz="2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14" name="Google Shape;214;p24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24"/>
          <p:cNvCxnSpPr/>
          <p:nvPr/>
        </p:nvCxnSpPr>
        <p:spPr>
          <a:xfrm flipH="1" rot="10800000">
            <a:off x="7269375" y="3663050"/>
            <a:ext cx="1870500" cy="148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24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24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9" name="Google Shape;219;p24"/>
          <p:cNvSpPr txBox="1"/>
          <p:nvPr/>
        </p:nvSpPr>
        <p:spPr>
          <a:xfrm>
            <a:off x="145850" y="866175"/>
            <a:ext cx="8357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Сгенерировать больше данных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Vision transformer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Оптимизировать скорость вычислений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Собрать алгоритмы в итоговое ПО 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20" name="Google Shape;22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9025" y="1751050"/>
            <a:ext cx="6271351" cy="274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latin typeface="Nunito"/>
                <a:ea typeface="Nunito"/>
                <a:cs typeface="Nunito"/>
                <a:sym typeface="Nunito"/>
              </a:rPr>
              <a:t>Ссылки</a:t>
            </a:r>
            <a:endParaRPr b="1" i="0" sz="2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27" name="Google Shape;227;p25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p25"/>
          <p:cNvCxnSpPr/>
          <p:nvPr/>
        </p:nvCxnSpPr>
        <p:spPr>
          <a:xfrm flipH="1" rot="10800000">
            <a:off x="7269375" y="3663050"/>
            <a:ext cx="1870500" cy="148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p25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25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2" name="Google Shape;232;p25"/>
          <p:cNvSpPr txBox="1"/>
          <p:nvPr/>
        </p:nvSpPr>
        <p:spPr>
          <a:xfrm>
            <a:off x="145850" y="866175"/>
            <a:ext cx="8357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EEGNet</a:t>
            </a:r>
            <a:br>
              <a:rPr i="1" lang="ru" sz="1100">
                <a:latin typeface="Nunito"/>
                <a:ea typeface="Nunito"/>
                <a:cs typeface="Nunito"/>
                <a:sym typeface="Nunito"/>
              </a:rPr>
            </a:br>
            <a:r>
              <a:rPr i="1" lang="ru" sz="11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https://arxiv.org/pdf/1611.08024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Neural Representational Consistency Emerges from Probabilistic Neural-Behavioral Representation Alignment </a:t>
            </a:r>
            <a:r>
              <a:rPr i="1" lang="ru" sz="11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https://arxiv.org/abs/2505.04331</a:t>
            </a:r>
            <a:br>
              <a:rPr i="1" lang="ru" sz="1100">
                <a:latin typeface="Nunito"/>
                <a:ea typeface="Nunito"/>
                <a:cs typeface="Nunito"/>
                <a:sym typeface="Nunito"/>
              </a:rPr>
            </a:br>
            <a:endParaRPr i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The whole prefrontal cortex is premotor cortex </a:t>
            </a:r>
            <a:br>
              <a:rPr i="1" lang="ru" sz="1100">
                <a:latin typeface="Nunito"/>
                <a:ea typeface="Nunito"/>
                <a:cs typeface="Nunito"/>
                <a:sym typeface="Nunito"/>
              </a:rPr>
            </a:br>
            <a:r>
              <a:rPr i="1" lang="ru" sz="1100">
                <a:latin typeface="Nunito"/>
                <a:ea typeface="Nunito"/>
                <a:cs typeface="Nunito"/>
                <a:sym typeface="Nunito"/>
              </a:rPr>
              <a:t>https://arxiv.org/abs/2106.04651</a:t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33" name="Google Shape;23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"/>
          <p:cNvSpPr txBox="1"/>
          <p:nvPr/>
        </p:nvSpPr>
        <p:spPr>
          <a:xfrm>
            <a:off x="177250" y="65427"/>
            <a:ext cx="6693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latin typeface="Nunito"/>
                <a:ea typeface="Nunito"/>
                <a:cs typeface="Nunito"/>
                <a:sym typeface="Nunito"/>
              </a:rPr>
              <a:t>Спасибо за внимание</a:t>
            </a:r>
            <a:endParaRPr b="1" i="0" sz="2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39" name="Google Shape;2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8925" y="109375"/>
            <a:ext cx="1529600" cy="667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0" name="Google Shape;240;p26"/>
          <p:cNvCxnSpPr/>
          <p:nvPr/>
        </p:nvCxnSpPr>
        <p:spPr>
          <a:xfrm>
            <a:off x="145850" y="886300"/>
            <a:ext cx="6950400" cy="17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26"/>
          <p:cNvCxnSpPr/>
          <p:nvPr/>
        </p:nvCxnSpPr>
        <p:spPr>
          <a:xfrm flipH="1" rot="10800000">
            <a:off x="7269375" y="3663050"/>
            <a:ext cx="1870500" cy="148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26"/>
          <p:cNvCxnSpPr/>
          <p:nvPr/>
        </p:nvCxnSpPr>
        <p:spPr>
          <a:xfrm flipH="1" rot="10800000">
            <a:off x="7269375" y="4055450"/>
            <a:ext cx="1870500" cy="1091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" name="Google Shape;243;p26"/>
          <p:cNvCxnSpPr/>
          <p:nvPr/>
        </p:nvCxnSpPr>
        <p:spPr>
          <a:xfrm flipH="1" rot="10800000">
            <a:off x="7286700" y="4546250"/>
            <a:ext cx="18705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" sz="20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5" name="Google Shape;245;p26"/>
          <p:cNvSpPr txBox="1"/>
          <p:nvPr/>
        </p:nvSpPr>
        <p:spPr>
          <a:xfrm>
            <a:off x="145850" y="866175"/>
            <a:ext cx="835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46" name="Google Shape;24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2738" y="1220175"/>
            <a:ext cx="3618525" cy="361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