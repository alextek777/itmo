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9E19CF-94AE-411F-9A40-E864D77370B5}">
  <a:tblStyle styleId="{9C9E19CF-94AE-411F-9A40-E864D77370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1b051d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bf91b051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f91b051d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bf91b051d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ee7c6291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7ee7c6291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ee7c6291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7ee7c6291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f91b051d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f91b051d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fbf997e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fbf997e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fbf997e3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fbf997e3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ee7c6291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7ee7c6291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fbf997e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fbf997e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ee7c6291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7ee7c6291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xiv.org/pdf/1611.08024" TargetMode="External"/><Relationship Id="rId4" Type="http://schemas.openxmlformats.org/officeDocument/2006/relationships/hyperlink" Target="https://arxiv.org/abs/2505.04331" TargetMode="External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014175" y="3804675"/>
            <a:ext cx="1361400" cy="7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581475" y="1787625"/>
            <a:ext cx="6221400" cy="146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7775" y="1674175"/>
            <a:ext cx="86040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ru" sz="3800">
                <a:latin typeface="Nunito"/>
                <a:ea typeface="Nunito"/>
                <a:cs typeface="Nunito"/>
                <a:sym typeface="Nunito"/>
              </a:rPr>
              <a:t>Обработка и классификация импульсов головного мозга</a:t>
            </a:r>
            <a:endParaRPr b="1" i="0" sz="3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Математическое моделирование</a:t>
            </a:r>
            <a:endParaRPr b="0" i="0" sz="1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57775" y="3550300"/>
            <a:ext cx="86670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Тектуманидзе Александр Георгиевич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Руководитель</a:t>
            </a:r>
            <a:r>
              <a:rPr lang="ru" sz="1500">
                <a:latin typeface="Nunito"/>
                <a:ea typeface="Nunito"/>
                <a:cs typeface="Nunito"/>
                <a:sym typeface="Nunito"/>
              </a:rPr>
              <a:t>: Бабушкин Максим Владимирович Доцент, кандидат физико-математических наук (факультет информационных технологий и программирования)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56600" y="4664550"/>
            <a:ext cx="84483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03.05.2026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29859" l="0" r="0" t="0"/>
          <a:stretch/>
        </p:blipFill>
        <p:spPr>
          <a:xfrm>
            <a:off x="7438925" y="109375"/>
            <a:ext cx="1529600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Мотивация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4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4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07475" y="1034425"/>
            <a:ext cx="8427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BCI в жизни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Исследование мозга с помощью ИИ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Целевая Аудитория: 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Пациенты нуждающиеся в реабилитации функций мозга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Игровая индустрия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Люди желающие упростить рутинные функции повседневности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" sz="1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1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2637" y="2971601"/>
            <a:ext cx="2077275" cy="208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Цели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5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5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3550" y="989025"/>
            <a:ext cx="83820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Создать модель </a:t>
            </a: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классификатора импульсов головного мозга с показателями: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F1: 0.85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latency: 100 ms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Классы: [LA,RA, LL,RL]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1" lang="ru" sz="1300">
                <a:latin typeface="Nunito"/>
                <a:ea typeface="Nunito"/>
                <a:cs typeface="Nunito"/>
                <a:sym typeface="Nunito"/>
              </a:rPr>
            </a:b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03550" y="2534405"/>
            <a:ext cx="83820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Задачи</a:t>
            </a:r>
            <a:endParaRPr b="1" i="0" sz="17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Собрать и пометить датасет импульсов головного мозга (по 100 измерений на каждый класс)</a:t>
            </a:r>
            <a:endParaRPr b="0" i="1" sz="13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Создать фильтр для фильтрации данных в реальном времени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Обучить модель на отфильтрованных данных для многомерной классификации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Собрать ПО </a:t>
            </a: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состоящее</a:t>
            </a: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 из: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Входного интерфейса многомерного потока данных с каналов измерительного устройства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Фильтр реального времени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Многомерный классификатор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Интерфейс для присваивания функций для каждого класса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State of art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6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6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6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45850" y="866175"/>
            <a:ext cx="835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Next Mind -  занимается исследованиями не инвазивного метода BCI зрительной коры головного мозга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Neurolink - занимается исследованиями инвазивного метода BCI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OpenBCI -  разрабатывает микросхемы для работы с BCI	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375" y="1509725"/>
            <a:ext cx="2124050" cy="21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50" y="1911850"/>
            <a:ext cx="3443874" cy="17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1126" y="3535298"/>
            <a:ext cx="2478049" cy="12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6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DataSet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7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7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7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088" y="1558875"/>
            <a:ext cx="3279826" cy="327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145850" y="866175"/>
            <a:ext cx="835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Собственный размеченный датасет: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4 Класса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100 измерений по каждому классу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400 </a:t>
            </a: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измерений без класса (class 0)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4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Фильтрация сигнала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27" name="Google Shape;127;p18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8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18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145850" y="866175"/>
            <a:ext cx="8357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Цель: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Убрать частоты 50Hz 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Выделить частоту </a:t>
            </a:r>
            <a:r>
              <a:rPr b="1" i="1" lang="ru" sz="1100">
                <a:latin typeface="Nunito"/>
                <a:ea typeface="Nunito"/>
                <a:cs typeface="Nunito"/>
                <a:sym typeface="Nunito"/>
              </a:rPr>
              <a:t>Бета</a:t>
            </a: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 волн мозга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Убрать шум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Основная метрика SNR (Signal-to-Noise Ratio):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575" y="951375"/>
            <a:ext cx="4582599" cy="343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21" y="2122125"/>
            <a:ext cx="2391225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5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Фильтрация сигнала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2" name="Google Shape;142;p19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9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9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9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45850" y="866175"/>
            <a:ext cx="83577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48" name="Google Shape;148;p19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{9C9E19CF-94AE-411F-9A40-E864D77370B5}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Алгоритм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Время выполнения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Качество </a:t>
                      </a:r>
                      <a:r>
                        <a:rPr b="1" lang="ru"/>
                        <a:t>SNR (Signal-to-Noise Ratio)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Скользящее среднее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r>
                        <a:rPr lang="ru"/>
                        <a:t>5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</a:t>
                      </a:r>
                      <a:r>
                        <a:rPr lang="ru"/>
                        <a:t>.5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Фильтр Калман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385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31.5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Вейвлет-фильтрация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557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29.8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Фильтр Чебышева </a:t>
                      </a:r>
                      <a:r>
                        <a:rPr lang="ru" sz="900"/>
                        <a:t>(2 порядка)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78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28.1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Фильтр Баттерворта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75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26.2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БПФ</a:t>
                      </a:r>
                      <a:r>
                        <a:rPr lang="ru"/>
                        <a:t> фильтрация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r>
                        <a:rPr lang="ru"/>
                        <a:t> мс на обработку окна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32.1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Notch фильтр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123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Движение кисти </a:t>
            </a:r>
            <a:endParaRPr b="1" sz="2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Nunito"/>
                <a:ea typeface="Nunito"/>
                <a:cs typeface="Nunito"/>
                <a:sym typeface="Nunito"/>
              </a:rPr>
              <a:t>(до и после </a:t>
            </a:r>
            <a:r>
              <a:rPr b="1" lang="ru" sz="1600">
                <a:latin typeface="Nunito"/>
                <a:ea typeface="Nunito"/>
                <a:cs typeface="Nunito"/>
                <a:sym typeface="Nunito"/>
              </a:rPr>
              <a:t>фильтрации</a:t>
            </a:r>
            <a:r>
              <a:rPr b="1" lang="ru" sz="1600">
                <a:latin typeface="Nunito"/>
                <a:ea typeface="Nunito"/>
                <a:cs typeface="Nunito"/>
                <a:sym typeface="Nunito"/>
              </a:rPr>
              <a:t>)</a:t>
            </a:r>
            <a:endParaRPr b="1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6" name="Google Shape;156;p20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20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20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20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Chart&#10;&#10;Description automatically generated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6301" y="1552032"/>
            <a:ext cx="3412525" cy="252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histogram&#10;&#10;Description automatically generated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250" y="1552031"/>
            <a:ext cx="3194850" cy="2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Классификаторы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71" name="Google Shape;171;p21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1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1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77" name="Google Shape;177;p21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{9C9E19CF-94AE-411F-9A40-E864D77370B5}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Алгоритм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F1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время выполнения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Решающие деревья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0.43</a:t>
                      </a:r>
                      <a:endParaRPr i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122 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Resnet 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0.57</a:t>
                      </a:r>
                      <a:endParaRPr i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172 ms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EEGNet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0.73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187 ms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177250" y="39195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LSTM</a:t>
            </a:r>
            <a:endParaRPr sz="105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RNN</a:t>
            </a:r>
            <a:endParaRPr sz="105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visual </a:t>
            </a:r>
            <a:endParaRPr sz="105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EEGNet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86" name="Google Shape;186;p22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22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2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323475" y="909475"/>
            <a:ext cx="86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EEGNet: Компактная CNN модель специализированная на данных c ЭЭГ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75" y="1251275"/>
            <a:ext cx="6401447" cy="35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EEGNet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00" name="Google Shape;200;p23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23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23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 rotWithShape="1">
          <a:blip r:embed="rId3">
            <a:alphaModFix/>
          </a:blip>
          <a:srcRect b="31685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323475" y="909475"/>
            <a:ext cx="86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50" y="1039275"/>
            <a:ext cx="7549364" cy="274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Планы на текущий год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14" name="Google Shape;214;p24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24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24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24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45850" y="866175"/>
            <a:ext cx="835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Сгенерировать больше данных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Vision transformer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Оптимизировать скорость вычислений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Собрать алгоритмы в итоговое ПО 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025" y="1751050"/>
            <a:ext cx="6271351" cy="27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Ссылки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7" name="Google Shape;227;p25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25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25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5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145850" y="866175"/>
            <a:ext cx="835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EEGNet</a:t>
            </a:r>
            <a:br>
              <a:rPr i="1" lang="ru" sz="1100">
                <a:latin typeface="Nunito"/>
                <a:ea typeface="Nunito"/>
                <a:cs typeface="Nunito"/>
                <a:sym typeface="Nunito"/>
              </a:rPr>
            </a:br>
            <a:r>
              <a:rPr i="1" lang="ru" sz="11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https://arxiv.org/pdf/1611.08024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Neural Representational Consistency Emerges from Probabilistic Neural-Behavioral Representation Alignment </a:t>
            </a:r>
            <a:r>
              <a:rPr i="1" lang="ru" sz="11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https://arxiv.org/abs/2505.04331</a:t>
            </a:r>
            <a:br>
              <a:rPr i="1" lang="ru" sz="1100">
                <a:latin typeface="Nunito"/>
                <a:ea typeface="Nunito"/>
                <a:cs typeface="Nunito"/>
                <a:sym typeface="Nunito"/>
              </a:rPr>
            </a:b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The whole prefrontal cortex is premotor cortex </a:t>
            </a:r>
            <a:br>
              <a:rPr i="1" lang="ru" sz="1100">
                <a:latin typeface="Nunito"/>
                <a:ea typeface="Nunito"/>
                <a:cs typeface="Nunito"/>
                <a:sym typeface="Nunito"/>
              </a:rPr>
            </a:b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https://arxiv.org/abs/2106.04651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Спасибо за внимание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26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6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6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6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738" y="1220175"/>
            <a:ext cx="3618525" cy="36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